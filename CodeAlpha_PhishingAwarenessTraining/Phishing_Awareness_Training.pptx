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F47"/>
                </a:solidFill>
                <a:latin typeface="Aptos"/>
              </a:defRPr>
            </a:pPr>
            <a:r>
              <a:t>CODEALPHA • CYBER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PHISHING</a:t>
            </a:r>
            <a:br/>
            <a:r>
              <a:t>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BEDCE6"/>
                </a:solidFill>
                <a:latin typeface="Aptos"/>
              </a:defRPr>
            </a:pPr>
            <a:r>
              <a:t>Spot the bait. Verify the sender. Protect the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Training module • Fictional examples • Quiz • Answer key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By the end, learners should be able to…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Recognize common warning signs in emails, texts, and websites.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Describe social engineering tactics such as urgency, authority, and fear.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Verify suspicious requests through a separate, trusted channel.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Report a suspected phishing attempt and respond safely after a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A social-engineering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An attacker pretends to be a trusted person, company, or service.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The goal may be to steal passwords, payment information, one-time codes, or personal data.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Phishing can arrive by email; smishing by SMS; vishing by phone; malicious QR codes can also be used.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A logo, familiar name, or polished grammar does not prove a message is genuine.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Warning 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Look for multiple clues, not just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Unexpected urgency: “Act now or your account will close.”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Sender address or domain that is misspelled or unrelated.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Unexpected attachments, QR codes, or links to sign in.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Requests for passwords, MFA codes, gift cards, or unusual payments.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A message that does not fit the normal context or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Example 1: delivery fee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Fictional training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Subject: “Delivery failed. Pay ₹25 immediately.”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The message threatens to return a parcel unless a small fee is paid.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The link opens a look-alike website asking for card details.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Safer action: check the courier's official app or type its known address yourself. Do not use the message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Example 2: fake IT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Fictional training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Message: “Reply with your one-time code to stop account suspension.”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Warning sign: legitimate support should not ask you to disclose your password or MFA code.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Contact IT using the known help-desk address or directory, not the message's contact details.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If concerned, check your account directly using the official app or 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Spot a fake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Check the destination before entering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Look for misspellings, extra words, or a domain that does not belong to the claimed organization.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A trusted brand name in a subdomain does not mean the main domain is genuine.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HTTPS/padlock encrypts a connection; it does not guarantee that a website is honest.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When in doubt, navigate independently using a bookmark or known official address.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Social engineering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Attackers target human reactions as well as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Authority: pretending to be a manager, bank, government office, or IT staff.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Urgency and fear: threats of fines, account closure, or missed deliveries.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Curiosity or reward: unexpected invoices, prizes, or shared files.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Familiarity: pretending to be a colleague asking for a quick favor.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Pause and verify the request using a separate trusted channel.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Safe response: five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Pause before you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1. Pause: do not click, scan, download, pay, or reply in a hurry.</a:t>
            </a:r>
          </a:p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2. Inspect: check sender, destination domain, context, and requested action.</a:t>
            </a:r>
          </a:p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3. Verify independently using a known phone number, official app, or bookmark.</a:t>
            </a:r>
          </a:p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4. Report using your organization's security process or the service's official reporting route.</a:t>
            </a:r>
          </a:p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5. If you interacted, tell IT/security promptly; change exposed passwords from a trusted device and contact your bank if payment details were shared.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Quiz • Questions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Choose the safest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Q1. A message threatens account closure and includes a sign-in link. A) Click fast  B) Visit the official site independently  C) Reply with password</a:t>
            </a:r>
          </a:p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Q2. HTTPS and a padlock prove a website is legitimate. A) True  B) False</a:t>
            </a:r>
          </a:p>
          <a:p>
            <a:pPr>
              <a:spcAft>
                <a:spcPts val="1200"/>
              </a:spcAft>
              <a:defRPr sz="1800">
                <a:solidFill>
                  <a:srgbClr val="283341"/>
                </a:solidFill>
                <a:latin typeface="Aptos"/>
              </a:defRPr>
            </a:pPr>
            <a:r>
              <a:t>Q3. A caller claiming to be IT asks for your MFA code. A) Share it  B) Refuse and contact IT through a known channel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Quiz • Questions 4–5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Think before acting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341"/>
                </a:solidFill>
                <a:latin typeface="Aptos"/>
              </a:defRPr>
            </a:pPr>
            <a:r>
              <a:t>Q4. You clicked a suspicious link but entered no details. A) Close, report, and follow security guidance  B) Forward it to coworkers</a:t>
            </a:r>
          </a:p>
          <a:p>
            <a:pPr>
              <a:spcAft>
                <a:spcPts val="1200"/>
              </a:spcAft>
              <a:defRPr sz="1900">
                <a:solidFill>
                  <a:srgbClr val="283341"/>
                </a:solidFill>
                <a:latin typeface="Aptos"/>
              </a:defRPr>
            </a:pPr>
            <a:r>
              <a:t>Q5. A manager asks by email for gift cards and the codes. A) Follow the email  B) Verify through a separate known channel</a:t>
            </a:r>
          </a:p>
          <a:p>
            <a:pPr>
              <a:spcAft>
                <a:spcPts val="1200"/>
              </a:spcAft>
              <a:defRPr sz="1900">
                <a:solidFill>
                  <a:srgbClr val="283341"/>
                </a:solidFill>
                <a:latin typeface="Aptos"/>
              </a:defRPr>
            </a:pPr>
            <a:r>
              <a:t>Discuss: Which warning signs influenced your answers?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Quiz answer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Reveal after learners have answered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Q1: B — navigate to the official service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Q2: B — HTTPS encrypts the connection but does not prove the site is trustworthy.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Q3: B — never disclose MFA codes; verify using known IT contact details.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Q4: A — close the page, report it, and follow local procedures.</a:t>
            </a:r>
          </a:p>
          <a:p>
            <a:pPr>
              <a:spcAft>
                <a:spcPts val="1200"/>
              </a:spcAft>
              <a:defRPr sz="2000">
                <a:solidFill>
                  <a:srgbClr val="283341"/>
                </a:solidFill>
                <a:latin typeface="Aptos"/>
              </a:defRPr>
            </a:pPr>
            <a:r>
              <a:t>Q5: B — verify unusual financial requests out of band.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A short pause can prevent a long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Treat unexpected requests for credentials, codes, or money with caution.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Check the real domain and context, not just a logo or display name.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Verify through a separate trusted channel.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Report quickly so security teams can protect others.</a:t>
            </a:r>
          </a:p>
          <a:p>
            <a:pPr>
              <a:spcAft>
                <a:spcPts val="1200"/>
              </a:spcAft>
              <a:defRPr sz="2100">
                <a:solidFill>
                  <a:srgbClr val="283341"/>
                </a:solidFill>
                <a:latin typeface="Aptos"/>
              </a:defRPr>
            </a:pPr>
            <a:r>
              <a:t>Ask yourself: “Was I expecting this, and can I verify it independently?”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33C"/>
                </a:solidFill>
                <a:latin typeface="Aptos"/>
              </a:defRPr>
            </a:pPr>
            <a:r>
              <a:t>References and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184"/>
                </a:solidFill>
                <a:latin typeface="Aptos"/>
              </a:defRPr>
            </a:pPr>
            <a:r>
              <a:t>Further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44752"/>
            <a:ext cx="1051560" cy="64008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515600" cy="4663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341"/>
                </a:solidFill>
                <a:latin typeface="Aptos"/>
              </a:defRPr>
            </a:pPr>
            <a:r>
              <a:t>CISA: Recognize and Report Phishing — https://www.cisa.gov/secure-our-world/recognize-and-report-phishing</a:t>
            </a:r>
          </a:p>
          <a:p>
            <a:pPr>
              <a:spcAft>
                <a:spcPts val="1200"/>
              </a:spcAft>
              <a:defRPr sz="1600">
                <a:solidFill>
                  <a:srgbClr val="283341"/>
                </a:solidFill>
                <a:latin typeface="Aptos"/>
              </a:defRPr>
            </a:pPr>
            <a:r>
              <a:t>FTC: How to Recognize and Avoid Phishing Scams — https://consumer.ftc.gov/articles/how-recognize-and-avoid-phishing-scams</a:t>
            </a:r>
          </a:p>
          <a:p>
            <a:pPr>
              <a:spcAft>
                <a:spcPts val="1200"/>
              </a:spcAft>
              <a:defRPr sz="1600">
                <a:solidFill>
                  <a:srgbClr val="283341"/>
                </a:solidFill>
                <a:latin typeface="Aptos"/>
              </a:defRPr>
            </a:pPr>
            <a:r>
              <a:t>NCSC: Phishing attacks — https://www.ncsc.gov.uk/guidance/phishing</a:t>
            </a:r>
          </a:p>
          <a:p>
            <a:pPr>
              <a:spcAft>
                <a:spcPts val="1200"/>
              </a:spcAft>
              <a:defRPr sz="1600">
                <a:solidFill>
                  <a:srgbClr val="283341"/>
                </a:solidFill>
                <a:latin typeface="Aptos"/>
              </a:defRPr>
            </a:pPr>
            <a:r>
              <a:t>All examples in this deck are fictional. Adapt reporting guidance to your institution's real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